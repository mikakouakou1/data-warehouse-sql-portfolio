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5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68" r:id="rId15"/>
    <p:sldId id="269" r:id="rId16"/>
    <p:sldId id="270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f4931f02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f4931f02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f4931f02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1f4931f02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f4931f02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1f4931f02e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13797df11_2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13797df11_2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13797df11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13797df11_2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13797df11_2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13797df11_2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13797df11_2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13797df11_2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13797df11_2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13797df11_2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13797df11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13797df11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13797df11_2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13797df11_2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13797df11_2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13797df11_2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1c9d01f28_8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1c9d01f28_8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1c9d01f28_8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1c9d01f28_8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8652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79501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66032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54914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48631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91357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68991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18285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29220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92116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82162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82937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1825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83691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00416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63587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6283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17577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51267" y="0"/>
            <a:ext cx="8412452" cy="4965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Optimizing Apple’s Supply Chain with AI &amp; Data Analytics:</a:t>
            </a:r>
            <a:endParaRPr sz="6000" b="1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Case Study on Inventory Trends in California</a:t>
            </a:r>
            <a:endParaRPr sz="1800" b="1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Name:</a:t>
            </a:r>
            <a:br>
              <a:rPr lang="e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Rangers</a:t>
            </a:r>
            <a:endParaRPr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endParaRPr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Mika Kouakou</a:t>
            </a:r>
            <a:br>
              <a:rPr lang="e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Kavya Narsagari</a:t>
            </a:r>
            <a:br>
              <a:rPr lang="e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Abdullah Alshare</a:t>
            </a:r>
            <a:endParaRPr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Course:</a:t>
            </a:r>
            <a:r>
              <a:rPr lang="en-US" sz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BUSA 526 - Database Management</a:t>
            </a:r>
            <a:br>
              <a:rPr lang="en-US" sz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Instructor: </a:t>
            </a:r>
            <a:r>
              <a:rPr lang="en-US" sz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Dr. Anil Kumar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6E1116-DDEA-8BC0-D1D0-0B98C032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7" y="297366"/>
            <a:ext cx="480062" cy="500196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bg1"/>
                </a:solidFill>
              </a:rPr>
              <a:t>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EA3E52-4D27-FCAB-B902-76790E8E4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098" y="2393330"/>
            <a:ext cx="3399621" cy="2571750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2073DD-1191-D4E3-763A-3C5A302C18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911" y="88087"/>
            <a:ext cx="1199113" cy="11991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-1279207" y="73888"/>
            <a:ext cx="8520600" cy="6078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2860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16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92754" y="574625"/>
            <a:ext cx="8140924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Apple’s California-based logistics operations face serious challenges due to: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0200" lvl="0" indent="-171450" algn="l" rtl="0"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 congestion (33% increase at LA Port – 2022)</a:t>
            </a:r>
            <a:b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020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Warehousing cost surge (12% rise)</a:t>
            </a:r>
            <a:b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020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Stockouts (7% for key products in Q4 2023)</a:t>
            </a:r>
            <a:b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Objective:</a:t>
            </a:r>
            <a:endParaRPr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2450" marR="381000" lvl="0" indent="-171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how supply chain disruptions in California affect Apple’s inventory and to explore how AI-driven data solutions can optimize operations.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  <a:buClr>
                <a:schemeClr val="tx1"/>
              </a:buClr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 : 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do these disruptions in California affect Apple's inventory management, and how can AI-driven solutions optimize operations?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E4AAC7-A990-B221-4FEF-20BA4F67780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669570" y="377825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 smtClean="0">
                <a:solidFill>
                  <a:schemeClr val="bg1"/>
                </a:solidFill>
              </a:rPr>
              <a:t>2</a:t>
            </a:fld>
            <a:endParaRPr lang="e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743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u="sng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UNSDGs &amp; Business Importance</a:t>
            </a:r>
            <a:endParaRPr sz="3200" b="1" u="sng" dirty="0">
              <a:solidFill>
                <a:schemeClr val="tx1"/>
              </a:solidFill>
            </a:endParaRP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951571"/>
            <a:ext cx="8520600" cy="36173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Aligned Sustainable Development Goals (UNSDGs):</a:t>
            </a:r>
            <a:endParaRPr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#12:</a:t>
            </a: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Responsible Consumption &amp; Production</a:t>
            </a:r>
            <a:b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Reduces inventory waste and overproduction</a:t>
            </a:r>
            <a:b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#13:</a:t>
            </a: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Climate Action</a:t>
            </a:r>
            <a:b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Optimizes logistics, reducing emissions</a:t>
            </a:r>
            <a:b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ts val="1100"/>
              <a:buNone/>
            </a:pPr>
            <a:r>
              <a:rPr lang="e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Relevance:</a:t>
            </a:r>
            <a:endParaRPr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Overstock markdown losses: </a:t>
            </a:r>
            <a:r>
              <a:rPr lang="e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$1.5M in Q3 2023</a:t>
            </a:r>
            <a:br>
              <a:rPr lang="e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 warehousing costs: </a:t>
            </a:r>
            <a:r>
              <a:rPr lang="e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$18.50/sq. ft average</a:t>
            </a:r>
            <a:br>
              <a:rPr lang="e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Saving just 2 days in inventory turnover = </a:t>
            </a:r>
            <a:r>
              <a:rPr lang="e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$100M/year potential gain</a:t>
            </a:r>
            <a:endParaRPr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7469C4-D128-DEBD-9990-52136B693DB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691873" y="445025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 smtClean="0">
                <a:solidFill>
                  <a:schemeClr val="bg1"/>
                </a:solidFill>
              </a:rPr>
              <a:t>3</a:t>
            </a:fld>
            <a:endParaRPr lang="e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743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u="sng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 &amp; Key Attributes</a:t>
            </a:r>
            <a:endParaRPr sz="3200" b="1" u="sng" dirty="0">
              <a:solidFill>
                <a:schemeClr val="tx1"/>
              </a:solidFill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845306"/>
            <a:ext cx="8520600" cy="3551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100000"/>
              <a:buNone/>
            </a:pPr>
            <a:r>
              <a:rPr lang="e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 Used: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82733" algn="l" rtl="0"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Kaggle: </a:t>
            </a:r>
            <a:r>
              <a:rPr lang="e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DataCo Supply Chain Dataset</a:t>
            </a:r>
            <a: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(Cleaned 30,000 California-based records)</a:t>
            </a:r>
            <a:b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82733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 SEC Filings: Financial &amp; inventory data</a:t>
            </a:r>
            <a:b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82733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California Government Supply Chain Reports</a:t>
            </a:r>
            <a:b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82733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 of LA Emissions &amp; Freight Loss</a:t>
            </a:r>
            <a:b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100000"/>
              <a:buNone/>
            </a:pPr>
            <a:r>
              <a:rPr lang="e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Attributes: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82733" algn="l" rtl="0"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Info:</a:t>
            </a:r>
            <a: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State, city, ZIP → to filter CA records</a:t>
            </a:r>
            <a:b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82733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Data:</a:t>
            </a:r>
            <a: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 ID, Dates, Shipping Duration</a:t>
            </a:r>
            <a:b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82733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Inventory:</a:t>
            </a:r>
            <a: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 ID, Category, Price</a:t>
            </a:r>
            <a:b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82733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Logistics:</a:t>
            </a:r>
            <a: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Shipping Mode, Late Delivery Risk</a:t>
            </a:r>
            <a:b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82733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Finance:</a:t>
            </a:r>
            <a: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 Profit Per Order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095DC4-8825-D2DA-357B-F849C991E7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669571" y="445025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 smtClean="0">
                <a:solidFill>
                  <a:schemeClr val="bg1"/>
                </a:solidFill>
              </a:rPr>
              <a:t>4</a:t>
            </a:fld>
            <a:endParaRPr lang="e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0" y="355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</a:t>
            </a:r>
            <a:endParaRPr sz="1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Courier New" panose="02070309020205020404" pitchFamily="49" charset="0"/>
              <a:buChar char="o"/>
            </a:pPr>
            <a:r>
              <a:rPr lang="e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the ERD Model:</a:t>
            </a:r>
            <a:endParaRPr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/>
              </a:buClr>
              <a:buSzPts val="1100"/>
              <a:buNone/>
            </a:pPr>
            <a:r>
              <a:rPr lang="en" sz="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•Entities: Customer, Order, Product, Supplier, Raw material, Warehouse, shipment, Lapor constraint, Geopolitical issue.</a:t>
            </a:r>
            <a:endParaRPr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/>
              </a:buClr>
              <a:buSzPts val="1100"/>
              <a:buNone/>
            </a:pPr>
            <a:r>
              <a:rPr lang="en" sz="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•Attributes: Name, Price, Quantity, etc.</a:t>
            </a:r>
            <a:endParaRPr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spcBef>
                <a:spcPts val="1200"/>
              </a:spcBef>
              <a:buClrTx/>
              <a:buSzPct val="100000"/>
              <a:buFont typeface="Courier New" panose="02070309020205020404" pitchFamily="49" charset="0"/>
              <a:buChar char="o"/>
            </a:pPr>
            <a:r>
              <a:rPr lang="e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Normalization to 3</a:t>
            </a:r>
            <a:r>
              <a:rPr lang="en" sz="1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Normal Form (3NF):</a:t>
            </a:r>
            <a:endParaRPr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•1NF (First Normal Form):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•Removed repeating groups by ensuring each field contains atomic values.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•Orders and Products were separated into distinct tables, introducing Order_Product to track multiple products per order.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•2NF (Second Normal Form):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•Eliminated partial dependencies, ensuring that each attribute depends on the whole primary key.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•Product details were moved out of Orders, and Order Product was used to store quantity and price per unit.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•3NF (Third Normal Form):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•Removed transitive dependencies by ensuring each attribute depends only on the primary key.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•Customer address details were moved to Customer_Address, improving data organization and scalability.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85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3B1C3A-262A-FC8E-2CAF-6E937AAEB9E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677005" y="445025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 smtClean="0">
                <a:solidFill>
                  <a:schemeClr val="bg1"/>
                </a:solidFill>
              </a:rPr>
              <a:t>5</a:t>
            </a:fld>
            <a:endParaRPr lang="e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85FC7D-AF14-B8B4-1F17-22C938E5304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666834" y="479196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 smtClean="0">
                <a:solidFill>
                  <a:schemeClr val="bg1"/>
                </a:solidFill>
              </a:rPr>
              <a:t>6</a:t>
            </a:fld>
            <a:endParaRPr lang="en" sz="2000" dirty="0">
              <a:solidFill>
                <a:schemeClr val="bg1"/>
              </a:solidFill>
            </a:endParaRPr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274" y="267629"/>
            <a:ext cx="8021444" cy="4670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125846" y="385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Importing Data into SQL</a:t>
            </a:r>
            <a:endParaRPr sz="1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1"/>
          </p:nvPr>
        </p:nvSpPr>
        <p:spPr>
          <a:xfrm>
            <a:off x="125846" y="115990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•Imported the Data into MySQL to create the schema based on the ERD model.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•Ensured proper table relationships using primary and foreign keys, aligning with the normalized design.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 AND REPORTS:</a:t>
            </a:r>
            <a:endParaRPr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•SQL queries were used to generate insights from the normalized database.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•These queries helped validate the relationships between entities and ensured the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database structure supported practical business reporting.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9EC286-8EA7-5CAE-243E-407C894D0C2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684438" y="475150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 smtClean="0">
                <a:solidFill>
                  <a:schemeClr val="bg1"/>
                </a:solidFill>
              </a:rPr>
              <a:t>7</a:t>
            </a:fld>
            <a:endParaRPr lang="en" sz="2000" dirty="0">
              <a:solidFill>
                <a:schemeClr val="bg1"/>
              </a:solidFill>
            </a:endParaRPr>
          </a:p>
        </p:txBody>
      </p:sp>
      <p:pic>
        <p:nvPicPr>
          <p:cNvPr id="93" name="Google Shape;93;p19"/>
          <p:cNvPicPr preferRelativeResize="0"/>
          <p:nvPr/>
        </p:nvPicPr>
        <p:blipFill rotWithShape="1">
          <a:blip r:embed="rId3">
            <a:alphaModFix/>
          </a:blip>
          <a:srcRect l="-3721" t="-71558" r="-5081" b="-7204"/>
          <a:stretch/>
        </p:blipFill>
        <p:spPr>
          <a:xfrm>
            <a:off x="5241076" y="475150"/>
            <a:ext cx="4066477" cy="4560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title"/>
          </p:nvPr>
        </p:nvSpPr>
        <p:spPr>
          <a:xfrm>
            <a:off x="259661" y="355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Queries And Reports</a:t>
            </a:r>
            <a:endParaRPr sz="1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Google Shape;99;p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•Sample data was inserted into the main tables to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test relationships and query accuracy.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•Customers were added with basic address details.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•Products included names, categories, and prices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49A6F1-DB4B-C48A-8AF3-9E1B4539DD3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691873" y="445025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 smtClean="0">
                <a:solidFill>
                  <a:schemeClr val="bg1"/>
                </a:solidFill>
              </a:rPr>
              <a:t>8</a:t>
            </a:fld>
            <a:endParaRPr lang="en" sz="2000" dirty="0">
              <a:solidFill>
                <a:schemeClr val="bg1"/>
              </a:solidFill>
            </a:endParaRPr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4049" y="1970049"/>
            <a:ext cx="5583579" cy="2995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>
            <a:spLocks noGrp="1"/>
          </p:cNvSpPr>
          <p:nvPr>
            <p:ph type="title"/>
          </p:nvPr>
        </p:nvSpPr>
        <p:spPr>
          <a:xfrm>
            <a:off x="-52574" y="288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Queries And Reports</a:t>
            </a:r>
            <a:endParaRPr sz="1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Google Shape;106;p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•Retrieves each customer’s total number of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orders and total amount spent by joining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Customers, Orders, and Order_Product.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•Calculates the average value of all orders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using nested aggregation — total price per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order, then averaging the result.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1DD3AB-32B3-F3A0-3E21-5166DFA0E0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704935" y="445024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 smtClean="0">
                <a:solidFill>
                  <a:schemeClr val="bg1"/>
                </a:solidFill>
              </a:rPr>
              <a:t>9</a:t>
            </a:fld>
            <a:endParaRPr lang="en" sz="2000" dirty="0">
              <a:solidFill>
                <a:schemeClr val="bg1"/>
              </a:solidFill>
            </a:endParaRPr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2129" y="1808486"/>
            <a:ext cx="5711871" cy="32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>
            <a:spLocks noGrp="1"/>
          </p:cNvSpPr>
          <p:nvPr>
            <p:ph type="title"/>
          </p:nvPr>
        </p:nvSpPr>
        <p:spPr>
          <a:xfrm>
            <a:off x="-60007" y="20788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Error Handling</a:t>
            </a:r>
            <a:endParaRPr sz="1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Google Shape;113;p22"/>
          <p:cNvSpPr txBox="1">
            <a:spLocks noGrp="1"/>
          </p:cNvSpPr>
          <p:nvPr>
            <p:ph type="body" idx="1"/>
          </p:nvPr>
        </p:nvSpPr>
        <p:spPr>
          <a:xfrm>
            <a:off x="311700" y="780586"/>
            <a:ext cx="8520600" cy="40337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•Used Role-Based Access Control (RBAC) to limit user access by role.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•Enabled Multi-Factor Authentication (MFA) for secure login. 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•Applied 3NF normalization to ensure data integrity. 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•Used foreign keys to enforce accurate relationships. 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•Suggested audit logs to track changes and ensure accountability. 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•Considered AI-based monitoring to detect real-time anomalies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None/>
            </a:pPr>
            <a:r>
              <a:rPr lang="e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Summary:</a:t>
            </a:r>
            <a:endParaRPr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•Worked with a large dataset of over 30,000 entries 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•Performed data cleaning and validation to ensure accuracy 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•Faced challenges with entity relationships and 3NF normalization 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•Used MySQL for schema design and Excel for data preparation 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•Applied AI analytics for forecasting and optimization 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•Results: 10% inventory reduction and $50M in savings annually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0435C4-6418-943F-F8AA-55B5D84910B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721610" y="445025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 smtClean="0">
                <a:solidFill>
                  <a:schemeClr val="bg1"/>
                </a:solidFill>
              </a:rPr>
              <a:t>10</a:t>
            </a:fld>
            <a:endParaRPr lang="e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title"/>
          </p:nvPr>
        </p:nvSpPr>
        <p:spPr>
          <a:xfrm>
            <a:off x="416312" y="445025"/>
            <a:ext cx="709961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Visualizations: Overstocking vs Demand, Forecasting Delays</a:t>
            </a:r>
            <a:endParaRPr sz="16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228305" y="1016972"/>
            <a:ext cx="7448700" cy="3419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30200" lvl="0" indent="-171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to erroneous demand forecasts, product categories 9, 45, and 46 showed notable overstocking.</a:t>
            </a:r>
            <a:b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0200" lvl="0" indent="-171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Understocking of essential, in-demand commodities led to lost sales and postponed customer fulfillment.</a:t>
            </a:r>
            <a:b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0200" lvl="0" indent="-171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Supply-demand discrepancies across several product lines are prominently displayed in the clustered column chart.</a:t>
            </a:r>
            <a:b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875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None/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20B53-DBB1-EACD-7ED0-4BD99C1F1F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6B5C4F8C-2F7E-6666-73DC-C7C162484D61}"/>
              </a:ext>
            </a:extLst>
          </p:cNvPr>
          <p:cNvSpPr txBox="1">
            <a:spLocks/>
          </p:cNvSpPr>
          <p:nvPr/>
        </p:nvSpPr>
        <p:spPr>
          <a:xfrm>
            <a:off x="7677005" y="445025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defPPr>
              <a:defRPr lang="en-US"/>
            </a:defPPr>
            <a:lvl1pPr marL="0" lvl="0" algn="r" defTabSz="457200" rtl="0" eaLnBrk="1" latinLnBrk="0" hangingPunct="1">
              <a:buNone/>
              <a:defRPr sz="675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000000-1234-1234-1234-123412341234}" type="slidenum">
              <a:rPr lang="en" sz="2000" smtClean="0">
                <a:solidFill>
                  <a:schemeClr val="bg1"/>
                </a:solidFill>
              </a:rPr>
              <a:pPr/>
              <a:t>11</a:t>
            </a:fld>
            <a:endParaRPr lang="en" sz="2000" dirty="0">
              <a:solidFill>
                <a:schemeClr val="bg1"/>
              </a:solidFill>
            </a:endParaRPr>
          </a:p>
        </p:txBody>
      </p:sp>
      <p:pic>
        <p:nvPicPr>
          <p:cNvPr id="4" name="Picture 3" descr="A graph of a graph with blue and orange bars&#10;&#10;AI-generated content may be incorrect.">
            <a:extLst>
              <a:ext uri="{FF2B5EF4-FFF2-40B4-BE49-F238E27FC236}">
                <a16:creationId xmlns:a16="http://schemas.microsoft.com/office/drawing/2014/main" id="{233D6C15-2A56-D9FC-DDBA-FF5A7FD133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971" y="2454105"/>
            <a:ext cx="5943600" cy="2331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878118-32BF-5334-ACD6-729BF51F9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F62A8A-A044-662F-D38A-CB2947F41C4B}"/>
              </a:ext>
            </a:extLst>
          </p:cNvPr>
          <p:cNvSpPr txBox="1"/>
          <p:nvPr/>
        </p:nvSpPr>
        <p:spPr>
          <a:xfrm>
            <a:off x="118948" y="704808"/>
            <a:ext cx="7746380" cy="4346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0200" lvl="0" indent="-171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Unpredictable shipment patterns are displayed in a scatter plot, highlighting problems with delivery timing and forecasting precision.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0200" lvl="0" indent="-171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product deliveries indicate overestimated demand and result in higher storage costs.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0200" lvl="0" indent="-171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shipping delays are a sign of deeper supply chain and port logistical inefficiencies.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0200" lvl="0" indent="-171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certain places, inventory performance in categories 17, 18, 26, and 48 demonstrated forecast reliability by closely matching actual demand.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0200" lvl="0" indent="-171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2015 to 2018, a shows increasing order volumes and seasonal spikes.</a:t>
            </a:r>
          </a:p>
        </p:txBody>
      </p:sp>
      <p:pic>
        <p:nvPicPr>
          <p:cNvPr id="5" name="Picture 4" descr="A diagram of a number of lines&#10;&#10;AI-generated content may be incorrect.">
            <a:extLst>
              <a:ext uri="{FF2B5EF4-FFF2-40B4-BE49-F238E27FC236}">
                <a16:creationId xmlns:a16="http://schemas.microsoft.com/office/drawing/2014/main" id="{BB7FAF9C-6DA8-7177-1602-5DFD16F4FC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144857"/>
            <a:ext cx="5943600" cy="230210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99BA72-87B5-A92F-A50E-587041064A39}"/>
              </a:ext>
            </a:extLst>
          </p:cNvPr>
          <p:cNvSpPr txBox="1"/>
          <p:nvPr/>
        </p:nvSpPr>
        <p:spPr>
          <a:xfrm>
            <a:off x="8192430" y="417498"/>
            <a:ext cx="6932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0000000-1234-1234-1234-123412341234}" type="slidenum">
              <a:rPr lang="en" sz="2000" smtClean="0">
                <a:solidFill>
                  <a:schemeClr val="bg1"/>
                </a:solidFill>
              </a:rPr>
              <a:pPr/>
              <a:t>12</a:t>
            </a:fld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77178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>
            <a:spLocks noGrp="1"/>
          </p:cNvSpPr>
          <p:nvPr>
            <p:ph type="title"/>
          </p:nvPr>
        </p:nvSpPr>
        <p:spPr>
          <a:xfrm>
            <a:off x="-122049" y="288275"/>
            <a:ext cx="859450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AI-Driven Optimization: Improving Forecasting and Inventory Levels</a:t>
            </a:r>
            <a:endParaRPr sz="16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Google Shape;125;p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3020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reduces overstock and understock situations by forecasting demand based on historical data.</a:t>
            </a:r>
            <a:b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020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Trendlines and moving averages make seasonal demand spikes and troughs easier to see.</a:t>
            </a:r>
            <a:b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020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Supply chain problems such as labor shortages or port congestion are simulated using AI tools.</a:t>
            </a:r>
            <a:b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020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adjustments are made to forecasting models to account for emerging demand indications.</a:t>
            </a:r>
            <a:b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020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dashboards identify underperforming SKUs so they may be phased out or adjusted promptly.</a:t>
            </a:r>
            <a:b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020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Dynamic stock allocation increases service levels and cuts down on fulfillment delays.</a:t>
            </a:r>
            <a:b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020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AI-driven enhancements are expected to save about $50 million a year.</a:t>
            </a:r>
            <a:b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020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reducing excess output, demand forecasting models promote sustainability.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CFD21A-24A4-0381-4C97-8E9EE2B32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4319040F-B0D8-372B-3E1A-C23ACE45864C}"/>
              </a:ext>
            </a:extLst>
          </p:cNvPr>
          <p:cNvSpPr txBox="1">
            <a:spLocks/>
          </p:cNvSpPr>
          <p:nvPr/>
        </p:nvSpPr>
        <p:spPr>
          <a:xfrm>
            <a:off x="8056147" y="377825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defPPr>
              <a:defRPr lang="en-US"/>
            </a:defPPr>
            <a:lvl1pPr marL="0" lvl="0" algn="r" defTabSz="457200" rtl="0" eaLnBrk="1" latinLnBrk="0" hangingPunct="1">
              <a:buNone/>
              <a:defRPr sz="675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000000-1234-1234-1234-123412341234}" type="slidenum">
              <a:rPr lang="en" sz="2000" smtClean="0">
                <a:solidFill>
                  <a:schemeClr val="bg1"/>
                </a:solidFill>
              </a:rPr>
              <a:pPr/>
              <a:t>13</a:t>
            </a:fld>
            <a:endParaRPr lang="e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>
            <a:spLocks noGrp="1"/>
          </p:cNvSpPr>
          <p:nvPr>
            <p:ph type="title"/>
          </p:nvPr>
        </p:nvSpPr>
        <p:spPr>
          <a:xfrm>
            <a:off x="115280" y="389250"/>
            <a:ext cx="863152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Lessons Learned: Collaboration, Technical Growth, Feedback Handling</a:t>
            </a:r>
            <a:endParaRPr sz="16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Google Shape;131;p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Effective processing of over 30,000 data entries required cooperative effort.</a:t>
            </a:r>
            <a:b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Role division enhanced group accountability and project flow.</a:t>
            </a:r>
            <a:b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the technical skills learned were SQL structuring, normalization (1NF–3NF), and ERD construction.</a:t>
            </a:r>
            <a:b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tools (like Chat GPT) improved visual clarity, data insights, and report composition.</a:t>
            </a:r>
            <a:b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Peer reviews offered valuable perspectives for improving impact framing and problem identification.</a:t>
            </a:r>
            <a:b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redundancy and visualization inconsistencies were decreased by structured planning.</a:t>
            </a:r>
            <a:b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cleaning procedures (e.g., Z-score, median imputation) were taught through the handling of huge datasets.</a:t>
            </a:r>
            <a:b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gave technical learning a wider context by being in line with UN SDG aims.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D1E697-9A50-D327-B947-04F891D236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3CDA35EB-DF12-10BE-F382-8BFD22388836}"/>
              </a:ext>
            </a:extLst>
          </p:cNvPr>
          <p:cNvSpPr txBox="1">
            <a:spLocks/>
          </p:cNvSpPr>
          <p:nvPr/>
        </p:nvSpPr>
        <p:spPr>
          <a:xfrm>
            <a:off x="7818253" y="377825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defPPr>
              <a:defRPr lang="en-US"/>
            </a:defPPr>
            <a:lvl1pPr marL="0" lvl="0" algn="r" defTabSz="457200" rtl="0" eaLnBrk="1" latinLnBrk="0" hangingPunct="1">
              <a:buNone/>
              <a:defRPr sz="675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000000-1234-1234-1234-123412341234}" type="slidenum">
              <a:rPr lang="en" sz="2000" smtClean="0">
                <a:solidFill>
                  <a:schemeClr val="bg1"/>
                </a:solidFill>
              </a:rPr>
              <a:pPr/>
              <a:t>14</a:t>
            </a:fld>
            <a:endParaRPr lang="e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>
            <a:spLocks noGrp="1"/>
          </p:cNvSpPr>
          <p:nvPr>
            <p:ph type="title"/>
          </p:nvPr>
        </p:nvSpPr>
        <p:spPr>
          <a:xfrm>
            <a:off x="546907" y="355475"/>
            <a:ext cx="7742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Q&amp;A Prompt: Recap Impact, Invite Questions</a:t>
            </a:r>
            <a:endParaRPr sz="16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Google Shape;137;p2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3020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is revolutionizing Apple's inventory management techniques.</a:t>
            </a:r>
            <a:b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020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Mismatches in inventory led to large cost increases—$1.5M in markdown losses in Q3 2023.</a:t>
            </a:r>
            <a:b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020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storage expenses ($18.50/sq.ft.) underscore the need for improved forecasting.</a:t>
            </a:r>
            <a:b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020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projections aid in maximizing inventory turnover and avoiding surplus stock accumulation.</a:t>
            </a:r>
            <a:b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020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waste, improved customer satisfaction, and operational cost reductions are among the advantages.</a:t>
            </a:r>
            <a:b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020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project's key takeaways include stakeholder-focused outcomes, teamwork, and the incorporation of technical tools.</a:t>
            </a:r>
            <a:b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020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of findings on delays, stock problems, and forecast gaps was aided by visualizations.</a:t>
            </a:r>
            <a:b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020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Questions about our procedures, visual interpretation, AI modeling, or upcoming advancements are all welcome.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F20BDB-AEF6-137E-F900-BE9AE2FD0A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245AC342-E30B-AAF4-39C8-DAF1D6AE1DE9}"/>
              </a:ext>
            </a:extLst>
          </p:cNvPr>
          <p:cNvSpPr txBox="1">
            <a:spLocks/>
          </p:cNvSpPr>
          <p:nvPr/>
        </p:nvSpPr>
        <p:spPr>
          <a:xfrm>
            <a:off x="7677005" y="445025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defPPr>
              <a:defRPr lang="en-US"/>
            </a:defPPr>
            <a:lvl1pPr marL="0" lvl="0" algn="r" defTabSz="457200" rtl="0" eaLnBrk="1" latinLnBrk="0" hangingPunct="1">
              <a:buNone/>
              <a:defRPr sz="675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000000-1234-1234-1234-123412341234}" type="slidenum">
              <a:rPr lang="en" sz="2000" smtClean="0">
                <a:solidFill>
                  <a:schemeClr val="bg1"/>
                </a:solidFill>
              </a:rPr>
              <a:pPr/>
              <a:t>15</a:t>
            </a:fld>
            <a:endParaRPr lang="e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0BE40E3-5550-4CDD-B4FD-387C33EBF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6350"/>
            <a:ext cx="9144001" cy="5149850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1A6B738-E50C-4653-B343-B9D6A5EA2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98768D6-B28C-40A3-B381-39306F58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B27C15B9-7795-4321-AB30-DF1DEF65C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578EC957-1F3F-4C00-B023-C8725C21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3D642632-BBD5-46D6-A91D-9B2BF682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BF9D518D-AFF5-4DE2-AEE2-0EC15479A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14EF979B-B00D-460C-BD56-7EEAFB7E0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3E40F9A1-6B82-400F-9397-26D1D36F1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2EF7DDF1-FF86-4CA4-B08B-8939557EBD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6D7C1F89-72B2-4FDC-B9E2-04F52D5C5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718BC0C-F59D-B057-BB45-6408E026B0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02" b="7430"/>
          <a:stretch/>
        </p:blipFill>
        <p:spPr>
          <a:xfrm>
            <a:off x="3202390" y="10"/>
            <a:ext cx="5941610" cy="5143490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96F24D-D55B-3599-AE94-46AAB56AD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457200"/>
            <a:ext cx="2888343" cy="99060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defTabSz="457200">
              <a:spcBef>
                <a:spcPct val="0"/>
              </a:spcBef>
            </a:pPr>
            <a:r>
              <a:rPr lang="en-US" sz="3600" b="1" dirty="0"/>
              <a:t>THANK YOU!!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28232-D034-9E4C-1DFD-B25DCA462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376" y="1840360"/>
            <a:ext cx="2888342" cy="2910580"/>
          </a:xfrm>
        </p:spPr>
        <p:txBody>
          <a:bodyPr vert="horz" lIns="91440" tIns="45720" rIns="91440" bIns="45720" rtlCol="0">
            <a:normAutofit/>
          </a:bodyPr>
          <a:lstStyle/>
          <a:p>
            <a:pPr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2800" b="1" dirty="0"/>
              <a:t>Any question?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51435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2761059"/>
            <a:ext cx="3572668" cy="2382441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6350"/>
            <a:ext cx="2255511" cy="5149850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6350"/>
            <a:ext cx="1941419" cy="5149850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2286000"/>
            <a:ext cx="2444751" cy="28575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B7D04-8151-F5AC-B97C-A7A056A609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42997" y="4531021"/>
            <a:ext cx="512504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indent="0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700">
                <a:solidFill>
                  <a:srgbClr val="FFFFFF"/>
                </a:solidFill>
              </a:rPr>
              <a:pPr lvl="0" indent="0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16</a:t>
            </a:fld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33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6350"/>
            <a:ext cx="2140744" cy="514985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6350"/>
            <a:ext cx="967571" cy="5149850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6350"/>
            <a:ext cx="937369" cy="5149850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2692400"/>
            <a:ext cx="1362869" cy="2451100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81750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146</TotalTime>
  <Words>1408</Words>
  <Application>Microsoft Office PowerPoint</Application>
  <PresentationFormat>On-screen Show (16:9)</PresentationFormat>
  <Paragraphs>147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Cambria</vt:lpstr>
      <vt:lpstr>Courier New</vt:lpstr>
      <vt:lpstr>Times New Roman</vt:lpstr>
      <vt:lpstr>Trebuchet MS</vt:lpstr>
      <vt:lpstr>Wingdings 3</vt:lpstr>
      <vt:lpstr>Facet</vt:lpstr>
      <vt:lpstr>Optimizing Apple’s Supply Chain with AI &amp; Data Analytics: A Case Study on Inventory Trends in California Team Name: Power Rangers Team Members: Mika Kouakou  Kavya Narsagari  Abdullah Alshare Course: BUSA 526 - Database Management Instructor: Dr. Anil Kumar </vt:lpstr>
      <vt:lpstr>Introduction</vt:lpstr>
      <vt:lpstr>UNSDGs &amp; Business Importance</vt:lpstr>
      <vt:lpstr>Data Collection &amp; Key Attributes</vt:lpstr>
      <vt:lpstr>Data Modeling</vt:lpstr>
      <vt:lpstr>PowerPoint Presentation</vt:lpstr>
      <vt:lpstr>Importing Data into SQL</vt:lpstr>
      <vt:lpstr>Queries And Reports</vt:lpstr>
      <vt:lpstr>Queries And Reports</vt:lpstr>
      <vt:lpstr>Security And Error Handling</vt:lpstr>
      <vt:lpstr>Data Visualizations: Overstocking vs Demand, Forecasting Delays</vt:lpstr>
      <vt:lpstr>PowerPoint Presentation</vt:lpstr>
      <vt:lpstr>AI-Driven Optimization: Improving Forecasting and Inventory Levels</vt:lpstr>
      <vt:lpstr>Lessons Learned: Collaboration, Technical Growth, Feedback Handling</vt:lpstr>
      <vt:lpstr>Conclusion &amp; Q&amp;A Prompt: Recap Impact, Invite Questions</vt:lpstr>
      <vt:lpstr>THANK YOU!!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Kavya N</dc:creator>
  <cp:lastModifiedBy>Cassandre Kouakou Mika</cp:lastModifiedBy>
  <cp:revision>10</cp:revision>
  <dcterms:modified xsi:type="dcterms:W3CDTF">2025-04-30T19:55:28Z</dcterms:modified>
</cp:coreProperties>
</file>